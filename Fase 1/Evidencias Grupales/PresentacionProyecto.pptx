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attanakarn" charset="1" panose="00000000000000000000"/>
      <p:regular r:id="rId19"/>
    </p:embeddedFont>
    <p:embeddedFont>
      <p:font typeface="TT Squares Bold" charset="1" panose="02000803040000020004"/>
      <p:regular r:id="rId20"/>
    </p:embeddedFont>
    <p:embeddedFont>
      <p:font typeface="Pattanakarn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8.png" Type="http://schemas.openxmlformats.org/officeDocument/2006/relationships/image"/><Relationship Id="rId8" Target="../embeddings/oleObject1.bin" Type="http://schemas.openxmlformats.org/officeDocument/2006/relationships/oleObject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7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1083" y="2998975"/>
            <a:ext cx="7046687" cy="7690790"/>
          </a:xfrm>
          <a:custGeom>
            <a:avLst/>
            <a:gdLst/>
            <a:ahLst/>
            <a:cxnLst/>
            <a:rect r="r" b="b" t="t" l="l"/>
            <a:pathLst>
              <a:path h="7690790" w="7046687">
                <a:moveTo>
                  <a:pt x="0" y="0"/>
                </a:moveTo>
                <a:lnTo>
                  <a:pt x="7046687" y="0"/>
                </a:lnTo>
                <a:lnTo>
                  <a:pt x="7046687" y="7690790"/>
                </a:lnTo>
                <a:lnTo>
                  <a:pt x="0" y="7690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396" y="-402765"/>
            <a:ext cx="7046687" cy="7690790"/>
          </a:xfrm>
          <a:custGeom>
            <a:avLst/>
            <a:gdLst/>
            <a:ahLst/>
            <a:cxnLst/>
            <a:rect r="r" b="b" t="t" l="l"/>
            <a:pathLst>
              <a:path h="7690790" w="7046687">
                <a:moveTo>
                  <a:pt x="7046687" y="7690790"/>
                </a:moveTo>
                <a:lnTo>
                  <a:pt x="0" y="7690790"/>
                </a:lnTo>
                <a:lnTo>
                  <a:pt x="0" y="0"/>
                </a:lnTo>
                <a:lnTo>
                  <a:pt x="7046687" y="0"/>
                </a:lnTo>
                <a:lnTo>
                  <a:pt x="7046687" y="769079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5734172" y="-800411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5" y="3658222"/>
                </a:lnTo>
                <a:lnTo>
                  <a:pt x="9471125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51047" y="7429189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9471125" y="0"/>
                </a:moveTo>
                <a:lnTo>
                  <a:pt x="0" y="0"/>
                </a:lnTo>
                <a:lnTo>
                  <a:pt x="0" y="3658222"/>
                </a:lnTo>
                <a:lnTo>
                  <a:pt x="9471125" y="3658222"/>
                </a:lnTo>
                <a:lnTo>
                  <a:pt x="947112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66292" y="7287359"/>
            <a:ext cx="3955416" cy="760344"/>
            <a:chOff x="0" y="0"/>
            <a:chExt cx="422829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8299" cy="812800"/>
            </a:xfrm>
            <a:custGeom>
              <a:avLst/>
              <a:gdLst/>
              <a:ahLst/>
              <a:cxnLst/>
              <a:rect r="r" b="b" t="t" l="l"/>
              <a:pathLst>
                <a:path h="812800" w="4228299">
                  <a:moveTo>
                    <a:pt x="3990174" y="0"/>
                  </a:moveTo>
                  <a:lnTo>
                    <a:pt x="4228299" y="238125"/>
                  </a:lnTo>
                  <a:lnTo>
                    <a:pt x="4228299" y="574675"/>
                  </a:lnTo>
                  <a:lnTo>
                    <a:pt x="3990174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99017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C1DCF">
                    <a:alpha val="100000"/>
                  </a:srgbClr>
                </a:gs>
                <a:gs pos="100000">
                  <a:srgbClr val="56138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63500" y="120650"/>
              <a:ext cx="4101299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88584" y="7146781"/>
            <a:ext cx="7910832" cy="760344"/>
            <a:chOff x="0" y="0"/>
            <a:chExt cx="845659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56599" cy="812800"/>
            </a:xfrm>
            <a:custGeom>
              <a:avLst/>
              <a:gdLst/>
              <a:ahLst/>
              <a:cxnLst/>
              <a:rect r="r" b="b" t="t" l="l"/>
              <a:pathLst>
                <a:path h="812800" w="8456599">
                  <a:moveTo>
                    <a:pt x="8218474" y="0"/>
                  </a:moveTo>
                  <a:lnTo>
                    <a:pt x="8456599" y="238125"/>
                  </a:lnTo>
                  <a:lnTo>
                    <a:pt x="8456599" y="574675"/>
                  </a:lnTo>
                  <a:lnTo>
                    <a:pt x="8218474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1847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C1DCF">
                    <a:alpha val="100000"/>
                  </a:srgbClr>
                </a:gs>
                <a:gs pos="100000">
                  <a:srgbClr val="56138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120650"/>
              <a:ext cx="8329599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3426" y="2236918"/>
            <a:ext cx="3397669" cy="1274126"/>
          </a:xfrm>
          <a:custGeom>
            <a:avLst/>
            <a:gdLst/>
            <a:ahLst/>
            <a:cxnLst/>
            <a:rect r="r" b="b" t="t" l="l"/>
            <a:pathLst>
              <a:path h="1274126" w="3397669">
                <a:moveTo>
                  <a:pt x="0" y="0"/>
                </a:moveTo>
                <a:lnTo>
                  <a:pt x="3397669" y="0"/>
                </a:lnTo>
                <a:lnTo>
                  <a:pt x="3397669" y="1274126"/>
                </a:lnTo>
                <a:lnTo>
                  <a:pt x="0" y="1274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360939" y="7526953"/>
            <a:ext cx="2777336" cy="1041501"/>
          </a:xfrm>
          <a:custGeom>
            <a:avLst/>
            <a:gdLst/>
            <a:ahLst/>
            <a:cxnLst/>
            <a:rect r="r" b="b" t="t" l="l"/>
            <a:pathLst>
              <a:path h="1041501" w="2777336">
                <a:moveTo>
                  <a:pt x="2777336" y="0"/>
                </a:moveTo>
                <a:lnTo>
                  <a:pt x="0" y="0"/>
                </a:lnTo>
                <a:lnTo>
                  <a:pt x="0" y="1041501"/>
                </a:lnTo>
                <a:lnTo>
                  <a:pt x="2777336" y="1041501"/>
                </a:lnTo>
                <a:lnTo>
                  <a:pt x="27773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24767" y="7357088"/>
            <a:ext cx="7438467" cy="55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</a:pPr>
            <a:r>
              <a:rPr lang="en-US" sz="22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Benjamin Salinas, Alexander Carrasco, </a:t>
            </a:r>
          </a:p>
          <a:p>
            <a:pPr algn="ctr">
              <a:lnSpc>
                <a:spcPts val="2134"/>
              </a:lnSpc>
            </a:pPr>
            <a:r>
              <a:rPr lang="en-US" sz="22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Alejandro Alvarez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186699" y="2146149"/>
            <a:ext cx="9914602" cy="4909863"/>
          </a:xfrm>
          <a:custGeom>
            <a:avLst/>
            <a:gdLst/>
            <a:ahLst/>
            <a:cxnLst/>
            <a:rect r="r" b="b" t="t" l="l"/>
            <a:pathLst>
              <a:path h="4909863" w="9914602">
                <a:moveTo>
                  <a:pt x="0" y="0"/>
                </a:moveTo>
                <a:lnTo>
                  <a:pt x="9914602" y="0"/>
                </a:lnTo>
                <a:lnTo>
                  <a:pt x="9914602" y="4909863"/>
                </a:lnTo>
                <a:lnTo>
                  <a:pt x="0" y="49098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9785" y="2888902"/>
            <a:ext cx="12260112" cy="8229600"/>
          </a:xfrm>
          <a:custGeom>
            <a:avLst/>
            <a:gdLst/>
            <a:ahLst/>
            <a:cxnLst/>
            <a:rect r="r" b="b" t="t" l="l"/>
            <a:pathLst>
              <a:path h="8229600" w="12260112">
                <a:moveTo>
                  <a:pt x="0" y="0"/>
                </a:moveTo>
                <a:lnTo>
                  <a:pt x="12260111" y="0"/>
                </a:lnTo>
                <a:lnTo>
                  <a:pt x="122601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7414" y="1379430"/>
            <a:ext cx="7528140" cy="752814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6138C">
                    <a:alpha val="100000"/>
                  </a:srgbClr>
                </a:gs>
                <a:gs pos="100000">
                  <a:srgbClr val="9C1DCF">
                    <a:alpha val="100000"/>
                  </a:srgbClr>
                </a:gs>
              </a:gsLst>
              <a:lin ang="0"/>
            </a:gradFill>
            <a:ln w="857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120650"/>
              <a:ext cx="6858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6889" y="1848904"/>
            <a:ext cx="6589192" cy="658919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blipFill>
              <a:blip r:embed="rId3"/>
              <a:stretch>
                <a:fillRect l="-38495" t="0" r="-38495" b="0"/>
              </a:stretch>
            </a:blipFill>
            <a:ln w="200025" cap="sq">
              <a:gradFill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true" flipV="true" rot="0">
            <a:off x="13261515" y="-615054"/>
            <a:ext cx="6413935" cy="4305354"/>
          </a:xfrm>
          <a:custGeom>
            <a:avLst/>
            <a:gdLst/>
            <a:ahLst/>
            <a:cxnLst/>
            <a:rect r="r" b="b" t="t" l="l"/>
            <a:pathLst>
              <a:path h="4305354" w="6413935">
                <a:moveTo>
                  <a:pt x="6413935" y="4305354"/>
                </a:moveTo>
                <a:lnTo>
                  <a:pt x="0" y="4305354"/>
                </a:lnTo>
                <a:lnTo>
                  <a:pt x="0" y="0"/>
                </a:lnTo>
                <a:lnTo>
                  <a:pt x="6413935" y="0"/>
                </a:lnTo>
                <a:lnTo>
                  <a:pt x="6413935" y="430535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80874" y="1002716"/>
            <a:ext cx="1426419" cy="534907"/>
          </a:xfrm>
          <a:custGeom>
            <a:avLst/>
            <a:gdLst/>
            <a:ahLst/>
            <a:cxnLst/>
            <a:rect r="r" b="b" t="t" l="l"/>
            <a:pathLst>
              <a:path h="534907" w="1426419">
                <a:moveTo>
                  <a:pt x="0" y="0"/>
                </a:moveTo>
                <a:lnTo>
                  <a:pt x="1426420" y="0"/>
                </a:lnTo>
                <a:lnTo>
                  <a:pt x="1426420" y="534907"/>
                </a:lnTo>
                <a:lnTo>
                  <a:pt x="0" y="5349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1711237" y="8843898"/>
            <a:ext cx="2210142" cy="828803"/>
          </a:xfrm>
          <a:custGeom>
            <a:avLst/>
            <a:gdLst/>
            <a:ahLst/>
            <a:cxnLst/>
            <a:rect r="r" b="b" t="t" l="l"/>
            <a:pathLst>
              <a:path h="828803" w="2210142">
                <a:moveTo>
                  <a:pt x="2210142" y="0"/>
                </a:moveTo>
                <a:lnTo>
                  <a:pt x="0" y="0"/>
                </a:lnTo>
                <a:lnTo>
                  <a:pt x="0" y="828804"/>
                </a:lnTo>
                <a:lnTo>
                  <a:pt x="2210142" y="828804"/>
                </a:lnTo>
                <a:lnTo>
                  <a:pt x="221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45618" y="2482066"/>
            <a:ext cx="4694101" cy="5203608"/>
          </a:xfrm>
          <a:custGeom>
            <a:avLst/>
            <a:gdLst/>
            <a:ahLst/>
            <a:cxnLst/>
            <a:rect r="r" b="b" t="t" l="l"/>
            <a:pathLst>
              <a:path h="5203608" w="4694101">
                <a:moveTo>
                  <a:pt x="0" y="0"/>
                </a:moveTo>
                <a:lnTo>
                  <a:pt x="4694101" y="0"/>
                </a:lnTo>
                <a:lnTo>
                  <a:pt x="4694101" y="5203608"/>
                </a:lnTo>
                <a:lnTo>
                  <a:pt x="0" y="5203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27" t="0" r="-542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63501" y="2274080"/>
            <a:ext cx="6407903" cy="7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</a:pPr>
            <a:r>
              <a:rPr lang="en-US" sz="5999" b="true">
                <a:solidFill>
                  <a:srgbClr val="FFFFFF"/>
                </a:solidFill>
                <a:latin typeface="TT Squares Bold"/>
                <a:ea typeface="TT Squares Bold"/>
                <a:cs typeface="TT Squares Bold"/>
                <a:sym typeface="TT Squares Bold"/>
              </a:rPr>
              <a:t>Introduccion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501" y="3114556"/>
            <a:ext cx="9410539" cy="563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La</a:t>
            </a: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ciberseguridad se ha convertido en un aspecto fundamental dentro de las organizaciones debido al constante aumento de amenazas y ataques informáticos. Frente a este escenario, resulta necesario contar con herramientas que permitan desarrollar conocimientos y habilidades para responder adecuadamente ante distintos tipos de incidentes. Cyber Response Simulator surge como una propuesta educativa que busca representar estas situaciones mediante un entorno interactivo y controlado. A través de un simulador en primera persona, el usuario podrá investigar incidentes, recopilar evidencias, analizar información y tomar decisiones relacionadas con la respuesta ante amenazas. El proyecto contempla situaciones como phishing, infecciones por malware y ataques DDoS, permitiendo aplicar conceptos de ciberseguridad de una manera práctica y dinámica. De esta forma, se busca complementar el aprendizaje teórico mediante una experiencia que acerque al usuario a situaciones similares a las que podría enfrentar en un entorno laboral.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2553" y="840771"/>
            <a:ext cx="8822894" cy="8912014"/>
          </a:xfrm>
          <a:custGeom>
            <a:avLst/>
            <a:gdLst/>
            <a:ahLst/>
            <a:cxnLst/>
            <a:rect r="r" b="b" t="t" l="l"/>
            <a:pathLst>
              <a:path h="8912014" w="8822894">
                <a:moveTo>
                  <a:pt x="0" y="0"/>
                </a:moveTo>
                <a:lnTo>
                  <a:pt x="8822894" y="0"/>
                </a:lnTo>
                <a:lnTo>
                  <a:pt x="8822894" y="8912014"/>
                </a:lnTo>
                <a:lnTo>
                  <a:pt x="0" y="8912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426391" y="6649292"/>
            <a:ext cx="5446750" cy="4255273"/>
          </a:xfrm>
          <a:custGeom>
            <a:avLst/>
            <a:gdLst/>
            <a:ahLst/>
            <a:cxnLst/>
            <a:rect r="r" b="b" t="t" l="l"/>
            <a:pathLst>
              <a:path h="4255273" w="5446750">
                <a:moveTo>
                  <a:pt x="5446750" y="0"/>
                </a:moveTo>
                <a:lnTo>
                  <a:pt x="0" y="0"/>
                </a:lnTo>
                <a:lnTo>
                  <a:pt x="0" y="4255273"/>
                </a:lnTo>
                <a:lnTo>
                  <a:pt x="5446750" y="4255273"/>
                </a:lnTo>
                <a:lnTo>
                  <a:pt x="54467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829467" y="-560159"/>
            <a:ext cx="6873975" cy="5370293"/>
          </a:xfrm>
          <a:custGeom>
            <a:avLst/>
            <a:gdLst/>
            <a:ahLst/>
            <a:cxnLst/>
            <a:rect r="r" b="b" t="t" l="l"/>
            <a:pathLst>
              <a:path h="5370293" w="6873975">
                <a:moveTo>
                  <a:pt x="0" y="5370293"/>
                </a:moveTo>
                <a:lnTo>
                  <a:pt x="6873975" y="5370293"/>
                </a:lnTo>
                <a:lnTo>
                  <a:pt x="6873975" y="0"/>
                </a:lnTo>
                <a:lnTo>
                  <a:pt x="0" y="0"/>
                </a:lnTo>
                <a:lnTo>
                  <a:pt x="0" y="537029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5869" y="1320857"/>
            <a:ext cx="9676263" cy="1608261"/>
            <a:chOff x="0" y="0"/>
            <a:chExt cx="12901683" cy="214434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94556" y="114300"/>
              <a:ext cx="10695949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¿En qué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47069"/>
              <a:ext cx="12901683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Consiste este proyecto?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1073" y="3383269"/>
            <a:ext cx="9213247" cy="2101426"/>
            <a:chOff x="0" y="0"/>
            <a:chExt cx="12284330" cy="280190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532748" cy="153274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59495" y="303213"/>
              <a:ext cx="1013759" cy="926322"/>
            </a:xfrm>
            <a:custGeom>
              <a:avLst/>
              <a:gdLst/>
              <a:ahLst/>
              <a:cxnLst/>
              <a:rect r="r" b="b" t="t" l="l"/>
              <a:pathLst>
                <a:path h="926322" w="1013759">
                  <a:moveTo>
                    <a:pt x="0" y="0"/>
                  </a:moveTo>
                  <a:lnTo>
                    <a:pt x="1013758" y="0"/>
                  </a:lnTo>
                  <a:lnTo>
                    <a:pt x="1013758" y="926322"/>
                  </a:lnTo>
                  <a:lnTo>
                    <a:pt x="0" y="926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034926" y="1494648"/>
              <a:ext cx="10249404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38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Un</a:t>
              </a:r>
              <a:r>
                <a:rPr lang="en-US" sz="1900" spc="38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videojuego educativo de simulación en primera persona donde el jugador asume el rol de integrante de un equipo de respuesta ante incidentes de ciberseguridad.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14915" y="311799"/>
              <a:ext cx="9030222" cy="853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25"/>
                </a:lnSpc>
              </a:pPr>
              <a:r>
                <a:rPr lang="en-US" sz="250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Una experiencia práctica para aprender ciberseguridad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4809282" y="1764336"/>
            <a:ext cx="1865538" cy="699577"/>
          </a:xfrm>
          <a:custGeom>
            <a:avLst/>
            <a:gdLst/>
            <a:ahLst/>
            <a:cxnLst/>
            <a:rect r="r" b="b" t="t" l="l"/>
            <a:pathLst>
              <a:path h="699577" w="1865538">
                <a:moveTo>
                  <a:pt x="1865537" y="0"/>
                </a:moveTo>
                <a:lnTo>
                  <a:pt x="0" y="0"/>
                </a:lnTo>
                <a:lnTo>
                  <a:pt x="0" y="699577"/>
                </a:lnTo>
                <a:lnTo>
                  <a:pt x="1865537" y="699577"/>
                </a:lnTo>
                <a:lnTo>
                  <a:pt x="186553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94705" y="6068427"/>
            <a:ext cx="7679616" cy="2784648"/>
            <a:chOff x="0" y="0"/>
            <a:chExt cx="10239487" cy="371286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917698" cy="1277055"/>
              <a:chOff x="0" y="0"/>
              <a:chExt cx="5039332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393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5039332">
                    <a:moveTo>
                      <a:pt x="4801207" y="0"/>
                    </a:moveTo>
                    <a:lnTo>
                      <a:pt x="5039332" y="238125"/>
                    </a:lnTo>
                    <a:lnTo>
                      <a:pt x="5039332" y="574675"/>
                    </a:lnTo>
                    <a:lnTo>
                      <a:pt x="4801207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801207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63500" y="120650"/>
                <a:ext cx="4912332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36496" y="356746"/>
              <a:ext cx="7244705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4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Durante la Partida: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63058" y="1516611"/>
              <a:ext cx="9776429" cy="219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</a:t>
              </a: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Investigar situaciones sospechosas.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Analizar información y evidencias.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Tomar decisiones ante diferentes amenazas.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Contener y resolver los incidentes.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Aprender de las consecuencias de sus acciones.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20793" y="3103878"/>
            <a:ext cx="6722677" cy="6648907"/>
            <a:chOff x="0" y="0"/>
            <a:chExt cx="8963569" cy="886521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131980" y="0"/>
              <a:ext cx="6890915" cy="1085811"/>
              <a:chOff x="0" y="0"/>
              <a:chExt cx="5314927" cy="83748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314928" cy="837480"/>
              </a:xfrm>
              <a:custGeom>
                <a:avLst/>
                <a:gdLst/>
                <a:ahLst/>
                <a:cxnLst/>
                <a:rect r="r" b="b" t="t" l="l"/>
                <a:pathLst>
                  <a:path h="837480" w="5314928">
                    <a:moveTo>
                      <a:pt x="5076803" y="0"/>
                    </a:moveTo>
                    <a:lnTo>
                      <a:pt x="5314928" y="238125"/>
                    </a:lnTo>
                    <a:lnTo>
                      <a:pt x="5314928" y="599355"/>
                    </a:lnTo>
                    <a:lnTo>
                      <a:pt x="5076803" y="837480"/>
                    </a:lnTo>
                    <a:lnTo>
                      <a:pt x="238125" y="837480"/>
                    </a:lnTo>
                    <a:lnTo>
                      <a:pt x="0" y="59935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076803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63500" y="120650"/>
                <a:ext cx="5187927" cy="6533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58992" y="255039"/>
              <a:ext cx="5836892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Impacto y relevancia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0" y="1902487"/>
              <a:ext cx="8963569" cy="6962723"/>
              <a:chOff x="0" y="0"/>
              <a:chExt cx="1312564" cy="101957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12564" cy="1019574"/>
              </a:xfrm>
              <a:custGeom>
                <a:avLst/>
                <a:gdLst/>
                <a:ahLst/>
                <a:cxnLst/>
                <a:rect r="r" b="b" t="t" l="l"/>
                <a:pathLst>
                  <a:path h="1019574" w="1312564">
                    <a:moveTo>
                      <a:pt x="1152544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859554"/>
                    </a:lnTo>
                    <a:lnTo>
                      <a:pt x="160020" y="1019574"/>
                    </a:lnTo>
                    <a:lnTo>
                      <a:pt x="1152544" y="1019574"/>
                    </a:lnTo>
                    <a:lnTo>
                      <a:pt x="1312564" y="859554"/>
                    </a:lnTo>
                    <a:lnTo>
                      <a:pt x="1312564" y="160020"/>
                    </a:lnTo>
                    <a:lnTo>
                      <a:pt x="1152544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540000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63500" y="120650"/>
                <a:ext cx="1185564" cy="835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10814" y="1135863"/>
              <a:ext cx="1533248" cy="1533248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37610" lIns="37610" bIns="37610" rIns="3761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4250254" y="1414141"/>
              <a:ext cx="791995" cy="961451"/>
            </a:xfrm>
            <a:custGeom>
              <a:avLst/>
              <a:gdLst/>
              <a:ahLst/>
              <a:cxnLst/>
              <a:rect r="r" b="b" t="t" l="l"/>
              <a:pathLst>
                <a:path h="961451" w="791995">
                  <a:moveTo>
                    <a:pt x="0" y="0"/>
                  </a:moveTo>
                  <a:lnTo>
                    <a:pt x="791995" y="0"/>
                  </a:lnTo>
                  <a:lnTo>
                    <a:pt x="791995" y="961451"/>
                  </a:lnTo>
                  <a:lnTo>
                    <a:pt x="0" y="961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535092" y="2763801"/>
              <a:ext cx="7967726" cy="5307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6"/>
                </a:lnSpc>
              </a:pPr>
              <a:r>
                <a:rPr lang="en-US" sz="1904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Aprendizaje práctico:</a:t>
              </a:r>
              <a:r>
                <a:rPr lang="en-US" sz="1904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permite aplicar conceptos de ciberseguridad mediante situaciones interactivas.</a:t>
              </a:r>
            </a:p>
            <a:p>
              <a:pPr algn="l">
                <a:lnSpc>
                  <a:spcPts val="2666"/>
                </a:lnSpc>
              </a:pPr>
            </a:p>
            <a:p>
              <a:pPr algn="l">
                <a:lnSpc>
                  <a:spcPts val="2666"/>
                </a:lnSpc>
              </a:pPr>
              <a:r>
                <a:rPr lang="en-US" sz="1904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Entorno seguro:</a:t>
              </a:r>
              <a:r>
                <a:rPr lang="en-US" sz="1904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permite practicar la respuesta ante incidentes sin afectar sistemas o infraestructura real.</a:t>
              </a:r>
            </a:p>
            <a:p>
              <a:pPr algn="l">
                <a:lnSpc>
                  <a:spcPts val="2666"/>
                </a:lnSpc>
              </a:pPr>
            </a:p>
            <a:p>
              <a:pPr algn="l">
                <a:lnSpc>
                  <a:spcPts val="2666"/>
                </a:lnSpc>
              </a:pPr>
              <a:r>
                <a:rPr lang="en-US" sz="1904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Aplicación laboral:</a:t>
              </a:r>
              <a:r>
                <a:rPr lang="en-US" sz="1904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representa situaciones inspiradas en problemas que pueden enfrentar profesionales y organizaciones, como Phishing, Malware y ataques DDoS.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0122" y="769622"/>
            <a:ext cx="8747756" cy="8747756"/>
          </a:xfrm>
          <a:custGeom>
            <a:avLst/>
            <a:gdLst/>
            <a:ahLst/>
            <a:cxnLst/>
            <a:rect r="r" b="b" t="t" l="l"/>
            <a:pathLst>
              <a:path h="8747756" w="8747756">
                <a:moveTo>
                  <a:pt x="0" y="0"/>
                </a:moveTo>
                <a:lnTo>
                  <a:pt x="8747756" y="0"/>
                </a:lnTo>
                <a:lnTo>
                  <a:pt x="8747756" y="8747756"/>
                </a:lnTo>
                <a:lnTo>
                  <a:pt x="0" y="8747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4331" y="6313716"/>
            <a:ext cx="5898751" cy="4608399"/>
          </a:xfrm>
          <a:custGeom>
            <a:avLst/>
            <a:gdLst/>
            <a:ahLst/>
            <a:cxnLst/>
            <a:rect r="r" b="b" t="t" l="l"/>
            <a:pathLst>
              <a:path h="4608399" w="5898751">
                <a:moveTo>
                  <a:pt x="0" y="0"/>
                </a:moveTo>
                <a:lnTo>
                  <a:pt x="5898751" y="0"/>
                </a:lnTo>
                <a:lnTo>
                  <a:pt x="5898751" y="4608398"/>
                </a:lnTo>
                <a:lnTo>
                  <a:pt x="0" y="460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998356" y="-635114"/>
            <a:ext cx="6873975" cy="5370293"/>
          </a:xfrm>
          <a:custGeom>
            <a:avLst/>
            <a:gdLst/>
            <a:ahLst/>
            <a:cxnLst/>
            <a:rect r="r" b="b" t="t" l="l"/>
            <a:pathLst>
              <a:path h="5370293" w="6873975">
                <a:moveTo>
                  <a:pt x="6873975" y="5370292"/>
                </a:moveTo>
                <a:lnTo>
                  <a:pt x="0" y="5370292"/>
                </a:lnTo>
                <a:lnTo>
                  <a:pt x="0" y="0"/>
                </a:lnTo>
                <a:lnTo>
                  <a:pt x="6873975" y="0"/>
                </a:lnTo>
                <a:lnTo>
                  <a:pt x="6873975" y="537029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33019" y="486205"/>
            <a:ext cx="8021962" cy="7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b="true" sz="5999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latin typeface="TT Squares Bold"/>
                <a:ea typeface="TT Squares Bold"/>
                <a:cs typeface="TT Squares Bold"/>
                <a:sym typeface="TT Squares Bold"/>
              </a:rPr>
              <a:t>Pefil de egresos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33019" y="1255648"/>
            <a:ext cx="8021962" cy="7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sz="5999" b="true">
                <a:solidFill>
                  <a:srgbClr val="FFFFFF"/>
                </a:solidFill>
                <a:latin typeface="TT Squares Bold"/>
                <a:ea typeface="TT Squares Bold"/>
                <a:cs typeface="TT Squares Bold"/>
                <a:sym typeface="TT Squares Bold"/>
              </a:rPr>
              <a:t>e intereses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86451" y="6133958"/>
            <a:ext cx="6062855" cy="334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4"/>
              </a:lnSpc>
              <a:spcBef>
                <a:spcPct val="0"/>
              </a:spcBef>
            </a:pPr>
            <a:r>
              <a:rPr lang="en-US" sz="2374" spc="47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El</a:t>
            </a:r>
            <a:r>
              <a:rPr lang="en-US" sz="2374" spc="47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proyecto se relaciona con nuestros intereses en el desarrollo de software, programación, ciberseguridad y desarrollo de videojuegos, permitiéndonos aplicar conocimientos técnicos en la creación de una solución interactiva con un propósito educativo.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9191" y="961384"/>
            <a:ext cx="2445775" cy="917166"/>
          </a:xfrm>
          <a:custGeom>
            <a:avLst/>
            <a:gdLst/>
            <a:ahLst/>
            <a:cxnLst/>
            <a:rect r="r" b="b" t="t" l="l"/>
            <a:pathLst>
              <a:path h="917166" w="2445775">
                <a:moveTo>
                  <a:pt x="0" y="0"/>
                </a:moveTo>
                <a:lnTo>
                  <a:pt x="2445775" y="0"/>
                </a:lnTo>
                <a:lnTo>
                  <a:pt x="2445775" y="917166"/>
                </a:lnTo>
                <a:lnTo>
                  <a:pt x="0" y="917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927115" y="5063652"/>
            <a:ext cx="5168187" cy="814358"/>
            <a:chOff x="0" y="0"/>
            <a:chExt cx="6890915" cy="108581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890915" cy="1085811"/>
              <a:chOff x="0" y="0"/>
              <a:chExt cx="5314927" cy="8374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314928" cy="837480"/>
              </a:xfrm>
              <a:custGeom>
                <a:avLst/>
                <a:gdLst/>
                <a:ahLst/>
                <a:cxnLst/>
                <a:rect r="r" b="b" t="t" l="l"/>
                <a:pathLst>
                  <a:path h="837480" w="5314928">
                    <a:moveTo>
                      <a:pt x="5076803" y="0"/>
                    </a:moveTo>
                    <a:lnTo>
                      <a:pt x="5314928" y="238125"/>
                    </a:lnTo>
                    <a:lnTo>
                      <a:pt x="5314928" y="599355"/>
                    </a:lnTo>
                    <a:lnTo>
                      <a:pt x="5076803" y="837480"/>
                    </a:lnTo>
                    <a:lnTo>
                      <a:pt x="238125" y="837480"/>
                    </a:lnTo>
                    <a:lnTo>
                      <a:pt x="0" y="59935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076803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63500" y="120650"/>
                <a:ext cx="5187927" cy="6533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27012" y="255039"/>
              <a:ext cx="5836892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Intereses profesionales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9191" y="2050032"/>
            <a:ext cx="5872986" cy="814358"/>
            <a:chOff x="0" y="0"/>
            <a:chExt cx="7830648" cy="10858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830648" cy="1085811"/>
              <a:chOff x="0" y="0"/>
              <a:chExt cx="6039738" cy="8374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39738" cy="837480"/>
              </a:xfrm>
              <a:custGeom>
                <a:avLst/>
                <a:gdLst/>
                <a:ahLst/>
                <a:cxnLst/>
                <a:rect r="r" b="b" t="t" l="l"/>
                <a:pathLst>
                  <a:path h="837480" w="6039738">
                    <a:moveTo>
                      <a:pt x="5801613" y="0"/>
                    </a:moveTo>
                    <a:lnTo>
                      <a:pt x="6039738" y="238125"/>
                    </a:lnTo>
                    <a:lnTo>
                      <a:pt x="6039738" y="599355"/>
                    </a:lnTo>
                    <a:lnTo>
                      <a:pt x="5801613" y="837480"/>
                    </a:lnTo>
                    <a:lnTo>
                      <a:pt x="238125" y="837480"/>
                    </a:lnTo>
                    <a:lnTo>
                      <a:pt x="0" y="59935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801613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63500" y="120650"/>
                <a:ext cx="5912738" cy="6533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27012" y="255039"/>
              <a:ext cx="7016557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Competencias de especialidad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2667" y="3035840"/>
            <a:ext cx="7664727" cy="1018649"/>
            <a:chOff x="0" y="0"/>
            <a:chExt cx="10219636" cy="135819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18234" y="460625"/>
              <a:ext cx="10101403" cy="897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  <a:spcBef>
                  <a:spcPct val="0"/>
                </a:spcBef>
              </a:pP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A</a:t>
              </a: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plicar técnicas de desarrollo para construir el simulador y sus diferentes sistemas de juego.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7150"/>
              <a:ext cx="7605554" cy="42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4"/>
                </a:lnSpc>
              </a:pPr>
              <a:r>
                <a:rPr lang="en-US" b="true" sz="2365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Desarrollar soluciones de software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9191" y="4390681"/>
            <a:ext cx="7681121" cy="1345942"/>
            <a:chOff x="0" y="0"/>
            <a:chExt cx="10241494" cy="179459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40091" y="433901"/>
              <a:ext cx="10101403" cy="1360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  <a:spcBef>
                  <a:spcPct val="0"/>
                </a:spcBef>
              </a:pP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Programar </a:t>
              </a: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las mecánicas de interacción, objetivos e incidentes de Phishing, Malware y DDoS utilizando Godot y GDScript.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7150"/>
              <a:ext cx="6578087" cy="42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4"/>
                </a:lnSpc>
              </a:pPr>
              <a:r>
                <a:rPr lang="en-US" b="true" sz="2365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Construir programas y rutinas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2667" y="7422803"/>
            <a:ext cx="7679506" cy="1018649"/>
            <a:chOff x="0" y="0"/>
            <a:chExt cx="10239342" cy="1358199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37939" y="460625"/>
              <a:ext cx="10101403" cy="897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  <a:spcBef>
                  <a:spcPct val="0"/>
                </a:spcBef>
              </a:pP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Evaluar e</a:t>
              </a: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l funcionamiento del videojuego mediante pruebas de jugabilidad, detección de errores y ajustes.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7150"/>
              <a:ext cx="6147340" cy="42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4"/>
                </a:lnSpc>
              </a:pPr>
              <a:r>
                <a:rPr lang="en-US" b="true" sz="2365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Realizar pruebas de calidad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71827" y="3035840"/>
            <a:ext cx="7576052" cy="1352044"/>
            <a:chOff x="0" y="0"/>
            <a:chExt cx="10101403" cy="180272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442038"/>
              <a:ext cx="10101403" cy="1360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  <a:spcBef>
                  <a:spcPct val="0"/>
                </a:spcBef>
              </a:pP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Aplicar </a:t>
              </a:r>
              <a:r>
                <a:rPr lang="en-US" sz="1971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conceptos de ciberseguridad mediante la representación y resolución de incidentes dentro de un entorno controlado.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7150"/>
              <a:ext cx="7940550" cy="42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4"/>
                </a:lnSpc>
              </a:pPr>
              <a:r>
                <a:rPr lang="en-US" b="true" sz="2365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Resolver vulnerabilidades sistémicas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49191" y="6069999"/>
            <a:ext cx="7816801" cy="1019429"/>
            <a:chOff x="0" y="0"/>
            <a:chExt cx="10422401" cy="1359239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172998" y="439547"/>
              <a:ext cx="10249404" cy="919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40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Planificar </a:t>
              </a:r>
              <a:r>
                <a:rPr lang="en-US" sz="2000" spc="40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el desarrollo del proyecto, organizar tareas y controlar el alcance definido para el MVP.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47625"/>
              <a:ext cx="7537038" cy="439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b="true" sz="2400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Gestionar proyectos informáticos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0122" y="769622"/>
            <a:ext cx="8747756" cy="8747756"/>
          </a:xfrm>
          <a:custGeom>
            <a:avLst/>
            <a:gdLst/>
            <a:ahLst/>
            <a:cxnLst/>
            <a:rect r="r" b="b" t="t" l="l"/>
            <a:pathLst>
              <a:path h="8747756" w="8747756">
                <a:moveTo>
                  <a:pt x="0" y="0"/>
                </a:moveTo>
                <a:lnTo>
                  <a:pt x="8747756" y="0"/>
                </a:lnTo>
                <a:lnTo>
                  <a:pt x="8747756" y="8747756"/>
                </a:lnTo>
                <a:lnTo>
                  <a:pt x="0" y="8747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4331" y="6313716"/>
            <a:ext cx="5898751" cy="4608399"/>
          </a:xfrm>
          <a:custGeom>
            <a:avLst/>
            <a:gdLst/>
            <a:ahLst/>
            <a:cxnLst/>
            <a:rect r="r" b="b" t="t" l="l"/>
            <a:pathLst>
              <a:path h="4608399" w="5898751">
                <a:moveTo>
                  <a:pt x="0" y="0"/>
                </a:moveTo>
                <a:lnTo>
                  <a:pt x="5898751" y="0"/>
                </a:lnTo>
                <a:lnTo>
                  <a:pt x="5898751" y="4608398"/>
                </a:lnTo>
                <a:lnTo>
                  <a:pt x="0" y="460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65148" y="2495764"/>
            <a:ext cx="7927341" cy="7612566"/>
            <a:chOff x="0" y="0"/>
            <a:chExt cx="2064157" cy="19821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4157" cy="1982195"/>
            </a:xfrm>
            <a:custGeom>
              <a:avLst/>
              <a:gdLst/>
              <a:ahLst/>
              <a:cxnLst/>
              <a:rect r="r" b="b" t="t" l="l"/>
              <a:pathLst>
                <a:path h="1982195" w="2064157">
                  <a:moveTo>
                    <a:pt x="190413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22175"/>
                  </a:lnTo>
                  <a:lnTo>
                    <a:pt x="160020" y="1982195"/>
                  </a:lnTo>
                  <a:lnTo>
                    <a:pt x="1904137" y="1982195"/>
                  </a:lnTo>
                  <a:lnTo>
                    <a:pt x="2064157" y="1822175"/>
                  </a:lnTo>
                  <a:lnTo>
                    <a:pt x="2064157" y="160020"/>
                  </a:lnTo>
                  <a:lnTo>
                    <a:pt x="19041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D116D">
                    <a:alpha val="100000"/>
                  </a:srgbClr>
                </a:gs>
                <a:gs pos="100000">
                  <a:srgbClr val="2F0C52">
                    <a:alpha val="100000"/>
                  </a:srgbClr>
                </a:gs>
              </a:gsLst>
              <a:lin ang="5400000"/>
            </a:gradFill>
            <a:ln w="76200" cap="sq">
              <a:gradFill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120650"/>
              <a:ext cx="1937157" cy="1798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30327" y="3280371"/>
            <a:ext cx="5168187" cy="790359"/>
            <a:chOff x="0" y="0"/>
            <a:chExt cx="6890915" cy="105381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890915" cy="1053812"/>
              <a:chOff x="0" y="0"/>
              <a:chExt cx="5314927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31492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5314928">
                    <a:moveTo>
                      <a:pt x="5076803" y="0"/>
                    </a:moveTo>
                    <a:lnTo>
                      <a:pt x="5314928" y="238125"/>
                    </a:lnTo>
                    <a:lnTo>
                      <a:pt x="5314928" y="574675"/>
                    </a:lnTo>
                    <a:lnTo>
                      <a:pt x="5076803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076803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63500" y="120650"/>
                <a:ext cx="5187927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005491" y="332173"/>
              <a:ext cx="4879933" cy="446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499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¿Porque es viable?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70198" y="1873663"/>
            <a:ext cx="5168187" cy="911384"/>
            <a:chOff x="0" y="0"/>
            <a:chExt cx="6890915" cy="12151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890915" cy="1215179"/>
              <a:chOff x="0" y="0"/>
              <a:chExt cx="5314927" cy="93726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314928" cy="937261"/>
              </a:xfrm>
              <a:custGeom>
                <a:avLst/>
                <a:gdLst/>
                <a:ahLst/>
                <a:cxnLst/>
                <a:rect r="r" b="b" t="t" l="l"/>
                <a:pathLst>
                  <a:path h="937261" w="5314928">
                    <a:moveTo>
                      <a:pt x="5076803" y="0"/>
                    </a:moveTo>
                    <a:lnTo>
                      <a:pt x="5314928" y="238125"/>
                    </a:lnTo>
                    <a:lnTo>
                      <a:pt x="5314928" y="699136"/>
                    </a:lnTo>
                    <a:lnTo>
                      <a:pt x="5076803" y="937261"/>
                    </a:lnTo>
                    <a:lnTo>
                      <a:pt x="238125" y="937261"/>
                    </a:lnTo>
                    <a:lnTo>
                      <a:pt x="0" y="699136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076803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56138C">
                      <a:alpha val="100000"/>
                    </a:srgbClr>
                  </a:gs>
                  <a:gs pos="100000">
                    <a:srgbClr val="9C1DCF">
                      <a:alpha val="100000"/>
                    </a:srgbClr>
                  </a:gs>
                </a:gsLst>
                <a:lin ang="0"/>
              </a:gra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63500" y="120650"/>
                <a:ext cx="5187927" cy="7531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05491" y="231568"/>
              <a:ext cx="4879933" cy="853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4"/>
                </a:lnSpc>
              </a:pPr>
              <a:r>
                <a:rPr lang="en-US" sz="2499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Principales riesgos y soluciones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6484377" y="9421547"/>
            <a:ext cx="1549846" cy="581192"/>
          </a:xfrm>
          <a:custGeom>
            <a:avLst/>
            <a:gdLst/>
            <a:ahLst/>
            <a:cxnLst/>
            <a:rect r="r" b="b" t="t" l="l"/>
            <a:pathLst>
              <a:path h="581192" w="1549846">
                <a:moveTo>
                  <a:pt x="1549846" y="0"/>
                </a:moveTo>
                <a:lnTo>
                  <a:pt x="0" y="0"/>
                </a:lnTo>
                <a:lnTo>
                  <a:pt x="0" y="581193"/>
                </a:lnTo>
                <a:lnTo>
                  <a:pt x="1549846" y="581193"/>
                </a:lnTo>
                <a:lnTo>
                  <a:pt x="154984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8" id="18"/>
          <p:cNvGraphicFramePr/>
          <p:nvPr/>
        </p:nvGraphicFramePr>
        <p:xfrm>
          <a:off x="10939122" y="3280371"/>
          <a:ext cx="10116038" cy="6872069"/>
        </p:xfrm>
        <a:graphic>
          <a:graphicData uri="http://schemas.openxmlformats.org/presentationml/2006/ole">
            <p:oleObj imgW="12128500" imgH="88900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1439906" y="1106920"/>
            <a:ext cx="8021962" cy="1678127"/>
            <a:chOff x="0" y="0"/>
            <a:chExt cx="10695949" cy="223750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14300"/>
              <a:ext cx="10695949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Factibilidad 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40224"/>
              <a:ext cx="10695949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Riesgos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1409" y="4373817"/>
            <a:ext cx="8746021" cy="457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4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Alcanc</a:t>
            </a:r>
            <a:r>
              <a:rPr lang="en-US" b="true" sz="2000" spc="4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 MVP: </a:t>
            </a: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se priorizan únicamente las funcionalidades esenciales del simulador.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4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Equipo de 3 integrantes:</a:t>
            </a: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permite distribuir el desarrollo de los tres incidentes y los sistemas generales.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4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Herramientas accesibles:</a:t>
            </a: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Godot, Blender, GDScript y GitHub permiten desarrollar el proyecto sin costos de licencias.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4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Desarrollo progresivo:</a:t>
            </a: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se trabajará mediante entregas parciales, facilitando la detección y corrección de problemas durante el semestre.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2181571" y="406152"/>
            <a:ext cx="4302806" cy="1245097"/>
            <a:chOff x="0" y="0"/>
            <a:chExt cx="5737075" cy="16601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71497"/>
              <a:ext cx="1839931" cy="1533276"/>
            </a:xfrm>
            <a:custGeom>
              <a:avLst/>
              <a:gdLst/>
              <a:ahLst/>
              <a:cxnLst/>
              <a:rect r="r" b="b" t="t" l="l"/>
              <a:pathLst>
                <a:path h="1533276" w="1839931">
                  <a:moveTo>
                    <a:pt x="0" y="0"/>
                  </a:moveTo>
                  <a:lnTo>
                    <a:pt x="1839931" y="0"/>
                  </a:lnTo>
                  <a:lnTo>
                    <a:pt x="1839931" y="1533276"/>
                  </a:lnTo>
                  <a:lnTo>
                    <a:pt x="0" y="1533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183172" y="55356"/>
              <a:ext cx="1549418" cy="1549418"/>
            </a:xfrm>
            <a:custGeom>
              <a:avLst/>
              <a:gdLst/>
              <a:ahLst/>
              <a:cxnLst/>
              <a:rect r="r" b="b" t="t" l="l"/>
              <a:pathLst>
                <a:path h="1549418" w="1549418">
                  <a:moveTo>
                    <a:pt x="0" y="0"/>
                  </a:moveTo>
                  <a:lnTo>
                    <a:pt x="1549417" y="0"/>
                  </a:lnTo>
                  <a:lnTo>
                    <a:pt x="1549417" y="1549417"/>
                  </a:lnTo>
                  <a:lnTo>
                    <a:pt x="0" y="154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076946" y="0"/>
              <a:ext cx="1660129" cy="1660129"/>
            </a:xfrm>
            <a:custGeom>
              <a:avLst/>
              <a:gdLst/>
              <a:ahLst/>
              <a:cxnLst/>
              <a:rect r="r" b="b" t="t" l="l"/>
              <a:pathLst>
                <a:path h="1660129" w="1660129">
                  <a:moveTo>
                    <a:pt x="0" y="0"/>
                  </a:moveTo>
                  <a:lnTo>
                    <a:pt x="1660129" y="0"/>
                  </a:lnTo>
                  <a:lnTo>
                    <a:pt x="1660129" y="1660129"/>
                  </a:lnTo>
                  <a:lnTo>
                    <a:pt x="0" y="1660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7470" y="623066"/>
            <a:ext cx="8973061" cy="9040867"/>
          </a:xfrm>
          <a:custGeom>
            <a:avLst/>
            <a:gdLst/>
            <a:ahLst/>
            <a:cxnLst/>
            <a:rect r="r" b="b" t="t" l="l"/>
            <a:pathLst>
              <a:path h="9040867" w="8973061">
                <a:moveTo>
                  <a:pt x="0" y="0"/>
                </a:moveTo>
                <a:lnTo>
                  <a:pt x="8973060" y="0"/>
                </a:lnTo>
                <a:lnTo>
                  <a:pt x="8973060" y="9040868"/>
                </a:lnTo>
                <a:lnTo>
                  <a:pt x="0" y="904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4392424" y="-572122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6" y="3658222"/>
                </a:lnTo>
                <a:lnTo>
                  <a:pt x="9471126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209298" y="-572122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9471126" y="3658222"/>
                </a:moveTo>
                <a:lnTo>
                  <a:pt x="0" y="3658222"/>
                </a:lnTo>
                <a:lnTo>
                  <a:pt x="0" y="0"/>
                </a:lnTo>
                <a:lnTo>
                  <a:pt x="9471126" y="0"/>
                </a:lnTo>
                <a:lnTo>
                  <a:pt x="9471126" y="365822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799038" y="4113163"/>
            <a:ext cx="9543420" cy="5841056"/>
            <a:chOff x="0" y="0"/>
            <a:chExt cx="1366938" cy="8366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6938" cy="836635"/>
            </a:xfrm>
            <a:custGeom>
              <a:avLst/>
              <a:gdLst/>
              <a:ahLst/>
              <a:cxnLst/>
              <a:rect r="r" b="b" t="t" l="l"/>
              <a:pathLst>
                <a:path h="836635" w="1366938">
                  <a:moveTo>
                    <a:pt x="120691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76615"/>
                  </a:lnTo>
                  <a:lnTo>
                    <a:pt x="160020" y="836635"/>
                  </a:lnTo>
                  <a:lnTo>
                    <a:pt x="1206918" y="836635"/>
                  </a:lnTo>
                  <a:lnTo>
                    <a:pt x="1366938" y="676615"/>
                  </a:lnTo>
                  <a:lnTo>
                    <a:pt x="1366938" y="160020"/>
                  </a:lnTo>
                  <a:lnTo>
                    <a:pt x="120691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D116D">
                    <a:alpha val="100000"/>
                  </a:srgbClr>
                </a:gs>
                <a:gs pos="100000">
                  <a:srgbClr val="2F0C52">
                    <a:alpha val="100000"/>
                  </a:srgbClr>
                </a:gs>
              </a:gsLst>
              <a:lin ang="5400000"/>
            </a:gradFill>
            <a:ln w="76200" cap="sq">
              <a:gradFill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3500" y="120650"/>
              <a:ext cx="1239938" cy="65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86798" y="1848260"/>
            <a:ext cx="8914404" cy="7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b="true" sz="5999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latin typeface="TT Squares Bold"/>
                <a:ea typeface="TT Squares Bold"/>
                <a:cs typeface="TT Squares Bold"/>
                <a:sym typeface="TT Squares Bold"/>
              </a:rPr>
              <a:t>Objetivo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70224" y="2617703"/>
            <a:ext cx="6947553" cy="79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sz="5999" b="true">
                <a:solidFill>
                  <a:srgbClr val="FFFFFF"/>
                </a:solidFill>
                <a:latin typeface="TT Squares Bold"/>
                <a:ea typeface="TT Squares Bold"/>
                <a:cs typeface="TT Squares Bold"/>
                <a:sym typeface="TT Squares Bold"/>
              </a:rPr>
              <a:t>Y especificos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113163"/>
            <a:ext cx="5083255" cy="4515184"/>
            <a:chOff x="0" y="0"/>
            <a:chExt cx="6777674" cy="602024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777674" cy="6020245"/>
              <a:chOff x="0" y="0"/>
              <a:chExt cx="1323601" cy="117568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23601" cy="1175684"/>
              </a:xfrm>
              <a:custGeom>
                <a:avLst/>
                <a:gdLst/>
                <a:ahLst/>
                <a:cxnLst/>
                <a:rect r="r" b="b" t="t" l="l"/>
                <a:pathLst>
                  <a:path h="1175684" w="1323601">
                    <a:moveTo>
                      <a:pt x="1163581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015664"/>
                    </a:lnTo>
                    <a:lnTo>
                      <a:pt x="160020" y="1175684"/>
                    </a:lnTo>
                    <a:lnTo>
                      <a:pt x="1163581" y="1175684"/>
                    </a:lnTo>
                    <a:lnTo>
                      <a:pt x="1323601" y="1015664"/>
                    </a:lnTo>
                    <a:lnTo>
                      <a:pt x="1323601" y="160020"/>
                    </a:lnTo>
                    <a:lnTo>
                      <a:pt x="1163581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7620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63500" y="120650"/>
                <a:ext cx="1196601" cy="9915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83433" y="415474"/>
              <a:ext cx="4610809" cy="47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</a:pPr>
              <a:r>
                <a:rPr lang="en-US" b="true" sz="2700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Objetivo General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4" y="1458273"/>
              <a:ext cx="5453259" cy="4208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40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Desarr</a:t>
              </a:r>
              <a:r>
                <a:rPr lang="en-US" sz="2000" spc="40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ollar un videojuego educativo de simulación en primera persona que represente situaciones de respuesta ante incidentes de ciberseguridad mediante investigación, análisis de evidencias y toma de decisiones.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044920" y="5175661"/>
            <a:ext cx="8202269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01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Diseña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r las mecánicas de detección, investigación y resolución de incidentes.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02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Implementar un entorno de oficina explorable con sistemas interactivos.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03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Incorporar </a:t>
            </a: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Phishing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, </a:t>
            </a: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Malware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y </a:t>
            </a: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DDoS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como escenarios principales.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04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Desarrollar sistemas de recolección y análisis de evidencias.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05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Implementar un sistema de decisiones con distintas consecuencias.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spc="3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06 </a:t>
            </a: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Evaluar el prototipo mediante pruebas de jugabilidad.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80280" y="2643702"/>
            <a:ext cx="1426419" cy="534907"/>
          </a:xfrm>
          <a:custGeom>
            <a:avLst/>
            <a:gdLst/>
            <a:ahLst/>
            <a:cxnLst/>
            <a:rect r="r" b="b" t="t" l="l"/>
            <a:pathLst>
              <a:path h="534907" w="1426419">
                <a:moveTo>
                  <a:pt x="0" y="0"/>
                </a:moveTo>
                <a:lnTo>
                  <a:pt x="1426419" y="0"/>
                </a:lnTo>
                <a:lnTo>
                  <a:pt x="1426419" y="534908"/>
                </a:lnTo>
                <a:lnTo>
                  <a:pt x="0" y="53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5281301" y="2643702"/>
            <a:ext cx="1426419" cy="534907"/>
          </a:xfrm>
          <a:custGeom>
            <a:avLst/>
            <a:gdLst/>
            <a:ahLst/>
            <a:cxnLst/>
            <a:rect r="r" b="b" t="t" l="l"/>
            <a:pathLst>
              <a:path h="534907" w="1426419">
                <a:moveTo>
                  <a:pt x="1426419" y="0"/>
                </a:moveTo>
                <a:lnTo>
                  <a:pt x="0" y="0"/>
                </a:lnTo>
                <a:lnTo>
                  <a:pt x="0" y="534908"/>
                </a:lnTo>
                <a:lnTo>
                  <a:pt x="1426419" y="534908"/>
                </a:lnTo>
                <a:lnTo>
                  <a:pt x="14264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44920" y="4441567"/>
            <a:ext cx="4063231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b="true" sz="2700" u="sng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Objetivos Especificos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-2770983" y="6086610"/>
            <a:ext cx="7088329" cy="4199835"/>
          </a:xfrm>
          <a:custGeom>
            <a:avLst/>
            <a:gdLst/>
            <a:ahLst/>
            <a:cxnLst/>
            <a:rect r="r" b="b" t="t" l="l"/>
            <a:pathLst>
              <a:path h="4199835" w="7088329">
                <a:moveTo>
                  <a:pt x="7088329" y="0"/>
                </a:moveTo>
                <a:lnTo>
                  <a:pt x="0" y="0"/>
                </a:lnTo>
                <a:lnTo>
                  <a:pt x="0" y="4199835"/>
                </a:lnTo>
                <a:lnTo>
                  <a:pt x="7088329" y="4199835"/>
                </a:lnTo>
                <a:lnTo>
                  <a:pt x="708832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42960" y="6053487"/>
            <a:ext cx="7088329" cy="4199835"/>
          </a:xfrm>
          <a:custGeom>
            <a:avLst/>
            <a:gdLst/>
            <a:ahLst/>
            <a:cxnLst/>
            <a:rect r="r" b="b" t="t" l="l"/>
            <a:pathLst>
              <a:path h="4199835" w="7088329">
                <a:moveTo>
                  <a:pt x="7088330" y="4199835"/>
                </a:moveTo>
                <a:lnTo>
                  <a:pt x="0" y="4199835"/>
                </a:lnTo>
                <a:lnTo>
                  <a:pt x="0" y="0"/>
                </a:lnTo>
                <a:lnTo>
                  <a:pt x="7088330" y="0"/>
                </a:lnTo>
                <a:lnTo>
                  <a:pt x="7088330" y="419983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728860" y="1028700"/>
            <a:ext cx="1530440" cy="573915"/>
          </a:xfrm>
          <a:custGeom>
            <a:avLst/>
            <a:gdLst/>
            <a:ahLst/>
            <a:cxnLst/>
            <a:rect r="r" b="b" t="t" l="l"/>
            <a:pathLst>
              <a:path h="573915" w="1530440">
                <a:moveTo>
                  <a:pt x="1530440" y="0"/>
                </a:moveTo>
                <a:lnTo>
                  <a:pt x="0" y="0"/>
                </a:lnTo>
                <a:lnTo>
                  <a:pt x="0" y="573915"/>
                </a:lnTo>
                <a:lnTo>
                  <a:pt x="1530440" y="573915"/>
                </a:lnTo>
                <a:lnTo>
                  <a:pt x="15304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449490"/>
            <a:ext cx="3272120" cy="3439411"/>
            <a:chOff x="0" y="0"/>
            <a:chExt cx="4362826" cy="45858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205048"/>
              <a:ext cx="4362826" cy="422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2"/>
                </a:lnSpc>
              </a:pPr>
              <a:r>
                <a:rPr lang="en-US" sz="227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Definicion y Diseño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7813" y="2916769"/>
              <a:ext cx="3967199" cy="1669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MVP,</a:t>
              </a: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mecánicas, flujo de juego y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estructura de incidentes.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1266021" y="0"/>
              <a:ext cx="1830784" cy="183078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536844" y="501074"/>
              <a:ext cx="1289138" cy="93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7"/>
                </a:lnSpc>
              </a:pPr>
              <a:r>
                <a:rPr lang="en-US" sz="5141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88385" y="2449490"/>
            <a:ext cx="3272120" cy="3439411"/>
            <a:chOff x="0" y="0"/>
            <a:chExt cx="4362826" cy="458588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2205048"/>
              <a:ext cx="4362826" cy="422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2"/>
                </a:lnSpc>
              </a:pPr>
              <a:r>
                <a:rPr lang="en-US" sz="227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Pre-Produccion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97813" y="2916769"/>
              <a:ext cx="3967199" cy="1669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Int</a:t>
              </a: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erfaces de usuario y 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modelado 3D Low Poly en Blender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266021" y="0"/>
              <a:ext cx="1830784" cy="183078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36844" y="501074"/>
              <a:ext cx="1289138" cy="93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7"/>
                </a:lnSpc>
              </a:pPr>
              <a:r>
                <a:rPr lang="en-US" sz="5141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50632" y="2449490"/>
            <a:ext cx="3272120" cy="3754856"/>
            <a:chOff x="0" y="0"/>
            <a:chExt cx="4362826" cy="500647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2205048"/>
              <a:ext cx="4362826" cy="422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2"/>
                </a:lnSpc>
              </a:pPr>
              <a:r>
                <a:rPr lang="en-US" sz="227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Produccion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97813" y="2916769"/>
              <a:ext cx="3967199" cy="2089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Implement</a:t>
              </a: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ación en Godot Engine de 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los 3 incidentes.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1266021" y="0"/>
              <a:ext cx="1830784" cy="1830784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36844" y="501074"/>
              <a:ext cx="1289138" cy="93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7"/>
                </a:lnSpc>
              </a:pPr>
              <a:r>
                <a:rPr lang="en-US" sz="5141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03254" y="2449490"/>
            <a:ext cx="3272120" cy="4034251"/>
            <a:chOff x="0" y="0"/>
            <a:chExt cx="4362826" cy="537900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2205048"/>
              <a:ext cx="4362826" cy="795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2"/>
                </a:lnSpc>
              </a:pPr>
              <a:r>
                <a:rPr lang="en-US" sz="227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Integracion y Pruebas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97813" y="3289294"/>
              <a:ext cx="3967199" cy="2089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Integr</a:t>
              </a: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ación de activos, pruebas de jugabilidad y corrección de fallas.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266021" y="0"/>
              <a:ext cx="1830784" cy="183078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36844" y="501074"/>
              <a:ext cx="1289138" cy="93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7"/>
                </a:lnSpc>
              </a:pPr>
              <a:r>
                <a:rPr lang="en-US" sz="5141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65500" y="2449490"/>
            <a:ext cx="3272120" cy="4385747"/>
            <a:chOff x="0" y="0"/>
            <a:chExt cx="4362826" cy="5847662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2205048"/>
              <a:ext cx="4362826" cy="422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2"/>
                </a:lnSpc>
              </a:pPr>
              <a:r>
                <a:rPr lang="en-US" sz="2270" b="true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Evaluacion y Cierre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97813" y="2916769"/>
              <a:ext cx="3967199" cy="2930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Valid</a:t>
              </a: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ación de mecánicas y 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  <a:r>
                <a:rPr lang="en-US" sz="1797" spc="35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feedback educativo del MVP.</a:t>
              </a: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  <a:p>
              <a:pPr algn="ctr">
                <a:lnSpc>
                  <a:spcPts val="251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266021" y="0"/>
              <a:ext cx="1830784" cy="1830784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5715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63500" y="120650"/>
                <a:ext cx="685800" cy="628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536844" y="501074"/>
              <a:ext cx="1289138" cy="93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7"/>
                </a:lnSpc>
              </a:pPr>
              <a:r>
                <a:rPr lang="en-US" sz="5141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5</a:t>
              </a:r>
            </a:p>
          </p:txBody>
        </p:sp>
      </p:grpSp>
      <p:graphicFrame>
        <p:nvGraphicFramePr>
          <p:cNvPr name="Object 40" id="40"/>
          <p:cNvGraphicFramePr/>
          <p:nvPr/>
        </p:nvGraphicFramePr>
        <p:xfrm>
          <a:off x="1109878" y="6570636"/>
          <a:ext cx="3972144" cy="1789315"/>
        </p:xfrm>
        <a:graphic>
          <a:graphicData uri="http://schemas.openxmlformats.org/presentationml/2006/ole">
            <p:oleObj imgW="4762500" imgH="25781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1" id="41"/>
          <p:cNvGrpSpPr/>
          <p:nvPr/>
        </p:nvGrpSpPr>
        <p:grpSpPr>
          <a:xfrm rot="0">
            <a:off x="1028700" y="430667"/>
            <a:ext cx="9889504" cy="1769982"/>
            <a:chOff x="0" y="0"/>
            <a:chExt cx="13186005" cy="2359976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114300"/>
              <a:ext cx="11885872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9"/>
                </a:lnSpc>
              </a:pPr>
              <a:r>
                <a:rPr lang="en-US" sz="5999" b="true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Scrum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1262697"/>
              <a:ext cx="13186005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Adapdato en sus 5 fases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269204" y="6193701"/>
            <a:ext cx="4063231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b="true" sz="2700" u="sng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Roles del equipo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2553" y="840771"/>
            <a:ext cx="8822894" cy="8912014"/>
          </a:xfrm>
          <a:custGeom>
            <a:avLst/>
            <a:gdLst/>
            <a:ahLst/>
            <a:cxnLst/>
            <a:rect r="r" b="b" t="t" l="l"/>
            <a:pathLst>
              <a:path h="8912014" w="8822894">
                <a:moveTo>
                  <a:pt x="0" y="0"/>
                </a:moveTo>
                <a:lnTo>
                  <a:pt x="8822894" y="0"/>
                </a:lnTo>
                <a:lnTo>
                  <a:pt x="8822894" y="8912014"/>
                </a:lnTo>
                <a:lnTo>
                  <a:pt x="0" y="8912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426391" y="6649292"/>
            <a:ext cx="5446750" cy="4255273"/>
          </a:xfrm>
          <a:custGeom>
            <a:avLst/>
            <a:gdLst/>
            <a:ahLst/>
            <a:cxnLst/>
            <a:rect r="r" b="b" t="t" l="l"/>
            <a:pathLst>
              <a:path h="4255273" w="5446750">
                <a:moveTo>
                  <a:pt x="5446750" y="0"/>
                </a:moveTo>
                <a:lnTo>
                  <a:pt x="0" y="0"/>
                </a:lnTo>
                <a:lnTo>
                  <a:pt x="0" y="4255273"/>
                </a:lnTo>
                <a:lnTo>
                  <a:pt x="5446750" y="4255273"/>
                </a:lnTo>
                <a:lnTo>
                  <a:pt x="54467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61487" y="-635114"/>
            <a:ext cx="6873975" cy="5370293"/>
          </a:xfrm>
          <a:custGeom>
            <a:avLst/>
            <a:gdLst/>
            <a:ahLst/>
            <a:cxnLst/>
            <a:rect r="r" b="b" t="t" l="l"/>
            <a:pathLst>
              <a:path h="5370293" w="6873975">
                <a:moveTo>
                  <a:pt x="0" y="5370292"/>
                </a:moveTo>
                <a:lnTo>
                  <a:pt x="6873974" y="5370292"/>
                </a:lnTo>
                <a:lnTo>
                  <a:pt x="6873974" y="0"/>
                </a:lnTo>
                <a:lnTo>
                  <a:pt x="0" y="0"/>
                </a:lnTo>
                <a:lnTo>
                  <a:pt x="0" y="537029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824277" y="1053887"/>
            <a:ext cx="1865538" cy="699577"/>
          </a:xfrm>
          <a:custGeom>
            <a:avLst/>
            <a:gdLst/>
            <a:ahLst/>
            <a:cxnLst/>
            <a:rect r="r" b="b" t="t" l="l"/>
            <a:pathLst>
              <a:path h="699577" w="1865538">
                <a:moveTo>
                  <a:pt x="1865538" y="0"/>
                </a:moveTo>
                <a:lnTo>
                  <a:pt x="0" y="0"/>
                </a:lnTo>
                <a:lnTo>
                  <a:pt x="0" y="699576"/>
                </a:lnTo>
                <a:lnTo>
                  <a:pt x="1865538" y="699576"/>
                </a:lnTo>
                <a:lnTo>
                  <a:pt x="186553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699861" y="7753651"/>
            <a:ext cx="1540651" cy="577744"/>
          </a:xfrm>
          <a:custGeom>
            <a:avLst/>
            <a:gdLst/>
            <a:ahLst/>
            <a:cxnLst/>
            <a:rect r="r" b="b" t="t" l="l"/>
            <a:pathLst>
              <a:path h="577744" w="1540651">
                <a:moveTo>
                  <a:pt x="0" y="577744"/>
                </a:moveTo>
                <a:lnTo>
                  <a:pt x="1540651" y="577744"/>
                </a:lnTo>
                <a:lnTo>
                  <a:pt x="1540651" y="0"/>
                </a:lnTo>
                <a:lnTo>
                  <a:pt x="0" y="0"/>
                </a:lnTo>
                <a:lnTo>
                  <a:pt x="0" y="5777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90769" y="3563811"/>
            <a:ext cx="3711085" cy="6188974"/>
            <a:chOff x="0" y="0"/>
            <a:chExt cx="531552" cy="886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1552" cy="886469"/>
            </a:xfrm>
            <a:custGeom>
              <a:avLst/>
              <a:gdLst/>
              <a:ahLst/>
              <a:cxnLst/>
              <a:rect r="r" b="b" t="t" l="l"/>
              <a:pathLst>
                <a:path h="886469" w="531552">
                  <a:moveTo>
                    <a:pt x="37153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26449"/>
                  </a:lnTo>
                  <a:lnTo>
                    <a:pt x="160020" y="886469"/>
                  </a:lnTo>
                  <a:lnTo>
                    <a:pt x="371532" y="886469"/>
                  </a:lnTo>
                  <a:lnTo>
                    <a:pt x="531552" y="726449"/>
                  </a:lnTo>
                  <a:lnTo>
                    <a:pt x="531552" y="160020"/>
                  </a:lnTo>
                  <a:lnTo>
                    <a:pt x="37153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D116D">
                    <a:alpha val="100000"/>
                  </a:srgbClr>
                </a:gs>
                <a:gs pos="100000">
                  <a:srgbClr val="2F0C52">
                    <a:alpha val="100000"/>
                  </a:srgbClr>
                </a:gs>
              </a:gsLst>
              <a:lin ang="5400000"/>
            </a:gradFill>
            <a:ln w="76200" cap="sq">
              <a:gradFill>
                <a:gsLst>
                  <a:gs pos="0">
                    <a:srgbClr val="9C1DCF">
                      <a:alpha val="100000"/>
                    </a:srgbClr>
                  </a:gs>
                  <a:gs pos="100000">
                    <a:srgbClr val="56138C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120650"/>
              <a:ext cx="404552" cy="702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01854" y="1786907"/>
            <a:ext cx="13808011" cy="5896543"/>
          </a:xfrm>
          <a:custGeom>
            <a:avLst/>
            <a:gdLst/>
            <a:ahLst/>
            <a:cxnLst/>
            <a:rect r="r" b="b" t="t" l="l"/>
            <a:pathLst>
              <a:path h="5896543" w="13808011">
                <a:moveTo>
                  <a:pt x="0" y="0"/>
                </a:moveTo>
                <a:lnTo>
                  <a:pt x="13808011" y="0"/>
                </a:lnTo>
                <a:lnTo>
                  <a:pt x="13808011" y="5896543"/>
                </a:lnTo>
                <a:lnTo>
                  <a:pt x="0" y="5896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163" b="-76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133019" y="75337"/>
            <a:ext cx="8021962" cy="1678127"/>
            <a:chOff x="0" y="0"/>
            <a:chExt cx="10695949" cy="22375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4300"/>
              <a:ext cx="10695949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Plan de trabajo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40224"/>
              <a:ext cx="10695949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e hitos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5732" y="4164675"/>
            <a:ext cx="2218084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b="true" sz="2700" u="sng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Hitos clave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93833" y="7843625"/>
            <a:ext cx="7406477" cy="2313484"/>
            <a:chOff x="0" y="0"/>
            <a:chExt cx="9875303" cy="3084645"/>
          </a:xfrm>
        </p:grpSpPr>
        <p:grpSp>
          <p:nvGrpSpPr>
            <p:cNvPr name="Group 16" id="16"/>
            <p:cNvGrpSpPr/>
            <p:nvPr/>
          </p:nvGrpSpPr>
          <p:grpSpPr>
            <a:xfrm rot="5400000">
              <a:off x="3395329" y="-3395329"/>
              <a:ext cx="3084645" cy="9875303"/>
              <a:chOff x="0" y="0"/>
              <a:chExt cx="331369" cy="106085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1369" cy="1060856"/>
              </a:xfrm>
              <a:custGeom>
                <a:avLst/>
                <a:gdLst/>
                <a:ahLst/>
                <a:cxnLst/>
                <a:rect r="r" b="b" t="t" l="l"/>
                <a:pathLst>
                  <a:path h="1060856" w="331369">
                    <a:moveTo>
                      <a:pt x="171349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900836"/>
                    </a:lnTo>
                    <a:lnTo>
                      <a:pt x="160020" y="1060856"/>
                    </a:lnTo>
                    <a:lnTo>
                      <a:pt x="171349" y="1060856"/>
                    </a:lnTo>
                    <a:lnTo>
                      <a:pt x="331369" y="900836"/>
                    </a:lnTo>
                    <a:lnTo>
                      <a:pt x="331369" y="160020"/>
                    </a:lnTo>
                    <a:lnTo>
                      <a:pt x="171349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D116D">
                      <a:alpha val="100000"/>
                    </a:srgbClr>
                  </a:gs>
                  <a:gs pos="100000">
                    <a:srgbClr val="2F0C52">
                      <a:alpha val="100000"/>
                    </a:srgbClr>
                  </a:gs>
                </a:gsLst>
                <a:lin ang="5400000"/>
              </a:gradFill>
              <a:ln w="76200" cap="sq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63500" y="120650"/>
                <a:ext cx="204369" cy="8767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58648" y="933041"/>
              <a:ext cx="692391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Equipo:</a:t>
              </a:r>
              <a:r>
                <a:rPr lang="en-US" b="true" sz="1999" spc="3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 </a:t>
              </a:r>
              <a:r>
                <a:rPr lang="en-US" sz="1999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3 integrantes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Hardware:</a:t>
              </a:r>
              <a:r>
                <a:rPr lang="en-US" sz="1999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Computadores personales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Software:</a:t>
              </a:r>
              <a:r>
                <a:rPr lang="en-US" sz="1999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Godot 4, Blender, VS Code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C</a:t>
              </a:r>
              <a:r>
                <a:rPr lang="en-US" b="true" sz="1999" spc="39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olaboración:</a:t>
              </a:r>
              <a:r>
                <a:rPr lang="en-US" sz="1999" spc="39">
                  <a:solidFill>
                    <a:srgbClr val="FFFFFF"/>
                  </a:solidFill>
                  <a:latin typeface="Pattanakarn"/>
                  <a:ea typeface="Pattanakarn"/>
                  <a:cs typeface="Pattanakarn"/>
                  <a:sym typeface="Pattanakarn"/>
                </a:rPr>
                <a:t> GitHub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58648" y="290519"/>
              <a:ext cx="2433670" cy="47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9"/>
                </a:lnSpc>
              </a:pPr>
              <a:r>
                <a:rPr lang="en-US" b="true" sz="2700" u="sng">
                  <a:solidFill>
                    <a:srgbClr val="FFFFFF"/>
                  </a:solidFill>
                  <a:latin typeface="Pattanakarn Bold"/>
                  <a:ea typeface="Pattanakarn Bold"/>
                  <a:cs typeface="Pattanakarn Bold"/>
                  <a:sym typeface="Pattanakarn Bold"/>
                </a:rPr>
                <a:t>Recursos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25131" y="4657684"/>
            <a:ext cx="3152311" cy="411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34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S2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MVP definido y planificació</a:t>
            </a:r>
            <a:r>
              <a:rPr lang="en-US" sz="1700" spc="34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n completada</a:t>
            </a:r>
          </a:p>
          <a:p>
            <a:pPr algn="l">
              <a:lnSpc>
                <a:spcPts val="2380"/>
              </a:lnSpc>
            </a:pPr>
            <a:r>
              <a:rPr lang="en-US" sz="1700" spc="34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S4 →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Diseño del escenario e interfaces finalizado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S7</a:t>
            </a: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→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 Sistemas base funcionales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S9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3 incidentes implementados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S11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Integración completada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S13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Pruebas y ajustes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S15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Documentación final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 spc="34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S18 → </a:t>
            </a:r>
            <a:r>
              <a:rPr lang="en-US" sz="1700" spc="3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Presentación y entrega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87888" y="926316"/>
            <a:ext cx="8128622" cy="8434368"/>
          </a:xfrm>
          <a:custGeom>
            <a:avLst/>
            <a:gdLst/>
            <a:ahLst/>
            <a:cxnLst/>
            <a:rect r="r" b="b" t="t" l="l"/>
            <a:pathLst>
              <a:path h="8434368" w="8128622">
                <a:moveTo>
                  <a:pt x="0" y="0"/>
                </a:moveTo>
                <a:lnTo>
                  <a:pt x="8128622" y="0"/>
                </a:lnTo>
                <a:lnTo>
                  <a:pt x="8128622" y="8434368"/>
                </a:lnTo>
                <a:lnTo>
                  <a:pt x="0" y="843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648671" y="4517963"/>
            <a:ext cx="15468051" cy="7250649"/>
          </a:xfrm>
          <a:custGeom>
            <a:avLst/>
            <a:gdLst/>
            <a:ahLst/>
            <a:cxnLst/>
            <a:rect r="r" b="b" t="t" l="l"/>
            <a:pathLst>
              <a:path h="7250649" w="15468051">
                <a:moveTo>
                  <a:pt x="15468051" y="0"/>
                </a:moveTo>
                <a:lnTo>
                  <a:pt x="0" y="0"/>
                </a:lnTo>
                <a:lnTo>
                  <a:pt x="0" y="7250649"/>
                </a:lnTo>
                <a:lnTo>
                  <a:pt x="15468051" y="7250649"/>
                </a:lnTo>
                <a:lnTo>
                  <a:pt x="1546805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735563" y="-572122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6" y="3658222"/>
                </a:lnTo>
                <a:lnTo>
                  <a:pt x="9471126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17803" y="189637"/>
            <a:ext cx="6947553" cy="1678127"/>
            <a:chOff x="0" y="0"/>
            <a:chExt cx="9263404" cy="22375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55466" y="114300"/>
              <a:ext cx="8707937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Evidencias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0224"/>
              <a:ext cx="9263404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Del Proyecto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true" flipV="false" rot="0">
              <a:off x="1630954" y="416272"/>
              <a:ext cx="2120819" cy="795307"/>
            </a:xfrm>
            <a:custGeom>
              <a:avLst/>
              <a:gdLst/>
              <a:ahLst/>
              <a:cxnLst/>
              <a:rect r="r" b="b" t="t" l="l"/>
              <a:pathLst>
                <a:path h="795307" w="2120819">
                  <a:moveTo>
                    <a:pt x="2120819" y="0"/>
                  </a:moveTo>
                  <a:lnTo>
                    <a:pt x="0" y="0"/>
                  </a:lnTo>
                  <a:lnTo>
                    <a:pt x="0" y="795307"/>
                  </a:lnTo>
                  <a:lnTo>
                    <a:pt x="2120819" y="795307"/>
                  </a:lnTo>
                  <a:lnTo>
                    <a:pt x="2120819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398775" y="3662087"/>
            <a:ext cx="8495799" cy="6267641"/>
          </a:xfrm>
          <a:custGeom>
            <a:avLst/>
            <a:gdLst/>
            <a:ahLst/>
            <a:cxnLst/>
            <a:rect r="r" b="b" t="t" l="l"/>
            <a:pathLst>
              <a:path h="6267641" w="8495799">
                <a:moveTo>
                  <a:pt x="0" y="0"/>
                </a:moveTo>
                <a:lnTo>
                  <a:pt x="8495798" y="0"/>
                </a:lnTo>
                <a:lnTo>
                  <a:pt x="8495798" y="6267641"/>
                </a:lnTo>
                <a:lnTo>
                  <a:pt x="0" y="62676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98775" y="2762225"/>
            <a:ext cx="655272" cy="655272"/>
          </a:xfrm>
          <a:custGeom>
            <a:avLst/>
            <a:gdLst/>
            <a:ahLst/>
            <a:cxnLst/>
            <a:rect r="r" b="b" t="t" l="l"/>
            <a:pathLst>
              <a:path h="655272" w="655272">
                <a:moveTo>
                  <a:pt x="0" y="0"/>
                </a:moveTo>
                <a:lnTo>
                  <a:pt x="655271" y="0"/>
                </a:lnTo>
                <a:lnTo>
                  <a:pt x="655271" y="655271"/>
                </a:lnTo>
                <a:lnTo>
                  <a:pt x="0" y="6552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5227" y="3759279"/>
            <a:ext cx="9040671" cy="6045457"/>
          </a:xfrm>
          <a:custGeom>
            <a:avLst/>
            <a:gdLst/>
            <a:ahLst/>
            <a:cxnLst/>
            <a:rect r="r" b="b" t="t" l="l"/>
            <a:pathLst>
              <a:path h="6045457" w="9040671">
                <a:moveTo>
                  <a:pt x="0" y="0"/>
                </a:moveTo>
                <a:lnTo>
                  <a:pt x="9040671" y="0"/>
                </a:lnTo>
                <a:lnTo>
                  <a:pt x="9040671" y="6045457"/>
                </a:lnTo>
                <a:lnTo>
                  <a:pt x="0" y="6045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511" t="0" r="-651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2446" y="2762225"/>
            <a:ext cx="651511" cy="651511"/>
          </a:xfrm>
          <a:custGeom>
            <a:avLst/>
            <a:gdLst/>
            <a:ahLst/>
            <a:cxnLst/>
            <a:rect r="r" b="b" t="t" l="l"/>
            <a:pathLst>
              <a:path h="651511" w="651511">
                <a:moveTo>
                  <a:pt x="0" y="0"/>
                </a:moveTo>
                <a:lnTo>
                  <a:pt x="651511" y="0"/>
                </a:lnTo>
                <a:lnTo>
                  <a:pt x="651511" y="651511"/>
                </a:lnTo>
                <a:lnTo>
                  <a:pt x="0" y="6515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0611" y="1820138"/>
            <a:ext cx="849579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Para este proyecto los entregables tecnicos que nos ayudaran a visibilizar el cumplimiento de las metas seran: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75758" y="2862555"/>
            <a:ext cx="114477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4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GitHub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3576" y="2862555"/>
            <a:ext cx="212809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4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Google Drive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87888" y="926316"/>
            <a:ext cx="8128622" cy="8434368"/>
          </a:xfrm>
          <a:custGeom>
            <a:avLst/>
            <a:gdLst/>
            <a:ahLst/>
            <a:cxnLst/>
            <a:rect r="r" b="b" t="t" l="l"/>
            <a:pathLst>
              <a:path h="8434368" w="8128622">
                <a:moveTo>
                  <a:pt x="0" y="0"/>
                </a:moveTo>
                <a:lnTo>
                  <a:pt x="8128622" y="0"/>
                </a:lnTo>
                <a:lnTo>
                  <a:pt x="8128622" y="8434368"/>
                </a:lnTo>
                <a:lnTo>
                  <a:pt x="0" y="843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648671" y="4517963"/>
            <a:ext cx="15468051" cy="7250649"/>
          </a:xfrm>
          <a:custGeom>
            <a:avLst/>
            <a:gdLst/>
            <a:ahLst/>
            <a:cxnLst/>
            <a:rect r="r" b="b" t="t" l="l"/>
            <a:pathLst>
              <a:path h="7250649" w="15468051">
                <a:moveTo>
                  <a:pt x="15468051" y="0"/>
                </a:moveTo>
                <a:lnTo>
                  <a:pt x="0" y="0"/>
                </a:lnTo>
                <a:lnTo>
                  <a:pt x="0" y="7250649"/>
                </a:lnTo>
                <a:lnTo>
                  <a:pt x="15468051" y="7250649"/>
                </a:lnTo>
                <a:lnTo>
                  <a:pt x="1546805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112221" y="-800411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5" y="3658222"/>
                </a:lnTo>
                <a:lnTo>
                  <a:pt x="9471125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19428" y="189637"/>
            <a:ext cx="6947553" cy="1678127"/>
            <a:chOff x="0" y="0"/>
            <a:chExt cx="9263404" cy="22375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55466" y="114300"/>
              <a:ext cx="8707937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Evidencias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0224"/>
              <a:ext cx="9263404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Del Proyecto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true" flipV="false" rot="0">
              <a:off x="1630954" y="416272"/>
              <a:ext cx="2120819" cy="795307"/>
            </a:xfrm>
            <a:custGeom>
              <a:avLst/>
              <a:gdLst/>
              <a:ahLst/>
              <a:cxnLst/>
              <a:rect r="r" b="b" t="t" l="l"/>
              <a:pathLst>
                <a:path h="795307" w="2120819">
                  <a:moveTo>
                    <a:pt x="2120819" y="0"/>
                  </a:moveTo>
                  <a:lnTo>
                    <a:pt x="0" y="0"/>
                  </a:lnTo>
                  <a:lnTo>
                    <a:pt x="0" y="795307"/>
                  </a:lnTo>
                  <a:lnTo>
                    <a:pt x="2120819" y="795307"/>
                  </a:lnTo>
                  <a:lnTo>
                    <a:pt x="2120819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186041" y="1963707"/>
            <a:ext cx="12773744" cy="8063426"/>
          </a:xfrm>
          <a:custGeom>
            <a:avLst/>
            <a:gdLst/>
            <a:ahLst/>
            <a:cxnLst/>
            <a:rect r="r" b="b" t="t" l="l"/>
            <a:pathLst>
              <a:path h="8063426" w="12773744">
                <a:moveTo>
                  <a:pt x="0" y="0"/>
                </a:moveTo>
                <a:lnTo>
                  <a:pt x="12773744" y="0"/>
                </a:lnTo>
                <a:lnTo>
                  <a:pt x="12773744" y="8063426"/>
                </a:lnTo>
                <a:lnTo>
                  <a:pt x="0" y="80634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6423" y="5259797"/>
            <a:ext cx="4774283" cy="4240553"/>
          </a:xfrm>
          <a:custGeom>
            <a:avLst/>
            <a:gdLst/>
            <a:ahLst/>
            <a:cxnLst/>
            <a:rect r="r" b="b" t="t" l="l"/>
            <a:pathLst>
              <a:path h="4240553" w="4774283">
                <a:moveTo>
                  <a:pt x="0" y="0"/>
                </a:moveTo>
                <a:lnTo>
                  <a:pt x="4774282" y="0"/>
                </a:lnTo>
                <a:lnTo>
                  <a:pt x="4774282" y="4240553"/>
                </a:lnTo>
                <a:lnTo>
                  <a:pt x="0" y="42405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95" t="-3924" r="-3947" b="-707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7448" y="2054163"/>
            <a:ext cx="4653258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4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Otros entregables tecnicos que nos ayudaran a visualizar el cumplimiento de las metas, Sera el mismo prototipo del juego en si, ver como cada version de este va mejorando en comparacion a su version anterior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87888" y="926316"/>
            <a:ext cx="8128622" cy="8434368"/>
          </a:xfrm>
          <a:custGeom>
            <a:avLst/>
            <a:gdLst/>
            <a:ahLst/>
            <a:cxnLst/>
            <a:rect r="r" b="b" t="t" l="l"/>
            <a:pathLst>
              <a:path h="8434368" w="8128622">
                <a:moveTo>
                  <a:pt x="0" y="0"/>
                </a:moveTo>
                <a:lnTo>
                  <a:pt x="8128622" y="0"/>
                </a:lnTo>
                <a:lnTo>
                  <a:pt x="8128622" y="8434368"/>
                </a:lnTo>
                <a:lnTo>
                  <a:pt x="0" y="8434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648671" y="4517963"/>
            <a:ext cx="15468051" cy="7250649"/>
          </a:xfrm>
          <a:custGeom>
            <a:avLst/>
            <a:gdLst/>
            <a:ahLst/>
            <a:cxnLst/>
            <a:rect r="r" b="b" t="t" l="l"/>
            <a:pathLst>
              <a:path h="7250649" w="15468051">
                <a:moveTo>
                  <a:pt x="15468051" y="0"/>
                </a:moveTo>
                <a:lnTo>
                  <a:pt x="0" y="0"/>
                </a:lnTo>
                <a:lnTo>
                  <a:pt x="0" y="7250649"/>
                </a:lnTo>
                <a:lnTo>
                  <a:pt x="15468051" y="7250649"/>
                </a:lnTo>
                <a:lnTo>
                  <a:pt x="1546805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12232" y="189637"/>
            <a:ext cx="6947553" cy="1678127"/>
            <a:chOff x="0" y="0"/>
            <a:chExt cx="9263404" cy="22375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55466" y="114300"/>
              <a:ext cx="8707937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Evidencias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0224"/>
              <a:ext cx="9263404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Del Proyecto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true" flipV="false" rot="0">
              <a:off x="1630954" y="416272"/>
              <a:ext cx="2120819" cy="795307"/>
            </a:xfrm>
            <a:custGeom>
              <a:avLst/>
              <a:gdLst/>
              <a:ahLst/>
              <a:cxnLst/>
              <a:rect r="r" b="b" t="t" l="l"/>
              <a:pathLst>
                <a:path h="795307" w="2120819">
                  <a:moveTo>
                    <a:pt x="2120819" y="0"/>
                  </a:moveTo>
                  <a:lnTo>
                    <a:pt x="0" y="0"/>
                  </a:lnTo>
                  <a:lnTo>
                    <a:pt x="0" y="795307"/>
                  </a:lnTo>
                  <a:lnTo>
                    <a:pt x="2120819" y="795307"/>
                  </a:lnTo>
                  <a:lnTo>
                    <a:pt x="2120819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677775" y="2469365"/>
            <a:ext cx="12282010" cy="7518811"/>
          </a:xfrm>
          <a:custGeom>
            <a:avLst/>
            <a:gdLst/>
            <a:ahLst/>
            <a:cxnLst/>
            <a:rect r="r" b="b" t="t" l="l"/>
            <a:pathLst>
              <a:path h="7518811" w="12282010">
                <a:moveTo>
                  <a:pt x="0" y="0"/>
                </a:moveTo>
                <a:lnTo>
                  <a:pt x="12282010" y="0"/>
                </a:lnTo>
                <a:lnTo>
                  <a:pt x="12282010" y="7518811"/>
                </a:lnTo>
                <a:lnTo>
                  <a:pt x="0" y="7518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801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8571" y="2795763"/>
            <a:ext cx="4439960" cy="6564921"/>
          </a:xfrm>
          <a:custGeom>
            <a:avLst/>
            <a:gdLst/>
            <a:ahLst/>
            <a:cxnLst/>
            <a:rect r="r" b="b" t="t" l="l"/>
            <a:pathLst>
              <a:path h="6564921" w="4439960">
                <a:moveTo>
                  <a:pt x="0" y="0"/>
                </a:moveTo>
                <a:lnTo>
                  <a:pt x="4439960" y="0"/>
                </a:lnTo>
                <a:lnTo>
                  <a:pt x="4439960" y="6564921"/>
                </a:lnTo>
                <a:lnTo>
                  <a:pt x="0" y="65649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4967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8571" y="623480"/>
            <a:ext cx="10124166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3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Control del jugador: Este código permite que el jugador mire alrededor con el mouse, se mueva en primera persona e interactúe con los distintos elementos del entorno. Además, controla cuándo el cursor queda bloqueado dentro del juego para ofrecer una experiencia más cómoda e inmersiva.</a:t>
            </a: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</a:pP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652" y="2193375"/>
            <a:ext cx="4826846" cy="7685368"/>
          </a:xfrm>
          <a:custGeom>
            <a:avLst/>
            <a:gdLst/>
            <a:ahLst/>
            <a:cxnLst/>
            <a:rect r="r" b="b" t="t" l="l"/>
            <a:pathLst>
              <a:path h="7685368" w="4826846">
                <a:moveTo>
                  <a:pt x="0" y="0"/>
                </a:moveTo>
                <a:lnTo>
                  <a:pt x="4826846" y="0"/>
                </a:lnTo>
                <a:lnTo>
                  <a:pt x="4826846" y="7685368"/>
                </a:lnTo>
                <a:lnTo>
                  <a:pt x="0" y="768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97071" y="2970279"/>
            <a:ext cx="11950277" cy="6675791"/>
          </a:xfrm>
          <a:custGeom>
            <a:avLst/>
            <a:gdLst/>
            <a:ahLst/>
            <a:cxnLst/>
            <a:rect r="r" b="b" t="t" l="l"/>
            <a:pathLst>
              <a:path h="6675791" w="11950277">
                <a:moveTo>
                  <a:pt x="0" y="0"/>
                </a:moveTo>
                <a:lnTo>
                  <a:pt x="11950277" y="0"/>
                </a:lnTo>
                <a:lnTo>
                  <a:pt x="11950277" y="6675791"/>
                </a:lnTo>
                <a:lnTo>
                  <a:pt x="0" y="6675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37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99795" y="786650"/>
            <a:ext cx="6947553" cy="1678127"/>
            <a:chOff x="0" y="0"/>
            <a:chExt cx="9263404" cy="22375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55466" y="114300"/>
              <a:ext cx="8707937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b="true" sz="5999">
                  <a:gradFill>
                    <a:gsLst>
                      <a:gs pos="0">
                        <a:srgbClr val="9C1DCF">
                          <a:alpha val="100000"/>
                        </a:srgbClr>
                      </a:gs>
                      <a:gs pos="100000">
                        <a:srgbClr val="56138C">
                          <a:alpha val="100000"/>
                        </a:srgbClr>
                      </a:gs>
                    </a:gsLst>
                    <a:lin ang="0"/>
                  </a:gradFill>
                  <a:latin typeface="TT Squares Bold"/>
                  <a:ea typeface="TT Squares Bold"/>
                  <a:cs typeface="TT Squares Bold"/>
                  <a:sym typeface="TT Squares Bold"/>
                </a:rPr>
                <a:t>Evidencias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0224"/>
              <a:ext cx="9263404" cy="1097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19"/>
                </a:lnSpc>
              </a:pPr>
              <a:r>
                <a:rPr lang="en-US" sz="5999" b="true">
                  <a:solidFill>
                    <a:srgbClr val="FFFFFF"/>
                  </a:solidFill>
                  <a:latin typeface="TT Squares Bold"/>
                  <a:ea typeface="TT Squares Bold"/>
                  <a:cs typeface="TT Squares Bold"/>
                  <a:sym typeface="TT Squares Bold"/>
                </a:rPr>
                <a:t>Del Proyecto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true" flipV="false" rot="0">
              <a:off x="1630954" y="416272"/>
              <a:ext cx="2120819" cy="795307"/>
            </a:xfrm>
            <a:custGeom>
              <a:avLst/>
              <a:gdLst/>
              <a:ahLst/>
              <a:cxnLst/>
              <a:rect r="r" b="b" t="t" l="l"/>
              <a:pathLst>
                <a:path h="795307" w="2120819">
                  <a:moveTo>
                    <a:pt x="2120819" y="0"/>
                  </a:moveTo>
                  <a:lnTo>
                    <a:pt x="0" y="0"/>
                  </a:lnTo>
                  <a:lnTo>
                    <a:pt x="0" y="795307"/>
                  </a:lnTo>
                  <a:lnTo>
                    <a:pt x="2120819" y="795307"/>
                  </a:lnTo>
                  <a:lnTo>
                    <a:pt x="2120819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-4103627" y="-1042461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5" y="3658222"/>
                </a:lnTo>
                <a:lnTo>
                  <a:pt x="9471125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11252">
                <a:alpha val="100000"/>
              </a:srgbClr>
            </a:gs>
            <a:gs pos="100000">
              <a:srgbClr val="18052B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1083" y="2998975"/>
            <a:ext cx="7046687" cy="7690790"/>
          </a:xfrm>
          <a:custGeom>
            <a:avLst/>
            <a:gdLst/>
            <a:ahLst/>
            <a:cxnLst/>
            <a:rect r="r" b="b" t="t" l="l"/>
            <a:pathLst>
              <a:path h="7690790" w="7046687">
                <a:moveTo>
                  <a:pt x="0" y="0"/>
                </a:moveTo>
                <a:lnTo>
                  <a:pt x="7046687" y="0"/>
                </a:lnTo>
                <a:lnTo>
                  <a:pt x="7046687" y="7690790"/>
                </a:lnTo>
                <a:lnTo>
                  <a:pt x="0" y="7690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396" y="-402765"/>
            <a:ext cx="7046687" cy="7690790"/>
          </a:xfrm>
          <a:custGeom>
            <a:avLst/>
            <a:gdLst/>
            <a:ahLst/>
            <a:cxnLst/>
            <a:rect r="r" b="b" t="t" l="l"/>
            <a:pathLst>
              <a:path h="7690790" w="7046687">
                <a:moveTo>
                  <a:pt x="7046687" y="7690790"/>
                </a:moveTo>
                <a:lnTo>
                  <a:pt x="0" y="7690790"/>
                </a:lnTo>
                <a:lnTo>
                  <a:pt x="0" y="0"/>
                </a:lnTo>
                <a:lnTo>
                  <a:pt x="7046687" y="0"/>
                </a:lnTo>
                <a:lnTo>
                  <a:pt x="7046687" y="769079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5734172" y="-800411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0" y="3658222"/>
                </a:moveTo>
                <a:lnTo>
                  <a:pt x="9471125" y="3658222"/>
                </a:lnTo>
                <a:lnTo>
                  <a:pt x="9471125" y="0"/>
                </a:lnTo>
                <a:lnTo>
                  <a:pt x="0" y="0"/>
                </a:lnTo>
                <a:lnTo>
                  <a:pt x="0" y="365822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51047" y="7429189"/>
            <a:ext cx="9471126" cy="3658222"/>
          </a:xfrm>
          <a:custGeom>
            <a:avLst/>
            <a:gdLst/>
            <a:ahLst/>
            <a:cxnLst/>
            <a:rect r="r" b="b" t="t" l="l"/>
            <a:pathLst>
              <a:path h="3658222" w="9471126">
                <a:moveTo>
                  <a:pt x="9471125" y="0"/>
                </a:moveTo>
                <a:lnTo>
                  <a:pt x="0" y="0"/>
                </a:lnTo>
                <a:lnTo>
                  <a:pt x="0" y="3658222"/>
                </a:lnTo>
                <a:lnTo>
                  <a:pt x="9471125" y="3658222"/>
                </a:lnTo>
                <a:lnTo>
                  <a:pt x="947112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53294" y="422004"/>
            <a:ext cx="9580879" cy="9580879"/>
          </a:xfrm>
          <a:custGeom>
            <a:avLst/>
            <a:gdLst/>
            <a:ahLst/>
            <a:cxnLst/>
            <a:rect r="r" b="b" t="t" l="l"/>
            <a:pathLst>
              <a:path h="9580879" w="9580879">
                <a:moveTo>
                  <a:pt x="0" y="0"/>
                </a:moveTo>
                <a:lnTo>
                  <a:pt x="9580879" y="0"/>
                </a:lnTo>
                <a:lnTo>
                  <a:pt x="9580879" y="9580879"/>
                </a:lnTo>
                <a:lnTo>
                  <a:pt x="0" y="9580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942649"/>
            <a:ext cx="2816867" cy="1056325"/>
          </a:xfrm>
          <a:custGeom>
            <a:avLst/>
            <a:gdLst/>
            <a:ahLst/>
            <a:cxnLst/>
            <a:rect r="r" b="b" t="t" l="l"/>
            <a:pathLst>
              <a:path h="1056325" w="2816867">
                <a:moveTo>
                  <a:pt x="0" y="0"/>
                </a:moveTo>
                <a:lnTo>
                  <a:pt x="2816867" y="0"/>
                </a:lnTo>
                <a:lnTo>
                  <a:pt x="2816867" y="1056326"/>
                </a:lnTo>
                <a:lnTo>
                  <a:pt x="0" y="1056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81964" y="7360175"/>
            <a:ext cx="2777336" cy="1041501"/>
          </a:xfrm>
          <a:custGeom>
            <a:avLst/>
            <a:gdLst/>
            <a:ahLst/>
            <a:cxnLst/>
            <a:rect r="r" b="b" t="t" l="l"/>
            <a:pathLst>
              <a:path h="1041501" w="2777336">
                <a:moveTo>
                  <a:pt x="2777336" y="0"/>
                </a:moveTo>
                <a:lnTo>
                  <a:pt x="0" y="0"/>
                </a:lnTo>
                <a:lnTo>
                  <a:pt x="0" y="1041501"/>
                </a:lnTo>
                <a:lnTo>
                  <a:pt x="2777336" y="1041501"/>
                </a:lnTo>
                <a:lnTo>
                  <a:pt x="27773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10312" y="1321535"/>
            <a:ext cx="11967291" cy="365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86"/>
              </a:lnSpc>
            </a:pPr>
            <a:r>
              <a:rPr lang="en-US" b="true" sz="14418" spc="-821">
                <a:gradFill>
                  <a:gsLst>
                    <a:gs pos="0">
                      <a:srgbClr val="9C1DCF">
                        <a:alpha val="100000"/>
                      </a:srgbClr>
                    </a:gs>
                    <a:gs pos="100000">
                      <a:srgbClr val="56138C">
                        <a:alpha val="100000"/>
                      </a:srgbClr>
                    </a:gs>
                  </a:gsLst>
                  <a:lin ang="0"/>
                </a:gradFill>
                <a:latin typeface="TT Squares Bold"/>
                <a:ea typeface="TT Squares Bold"/>
                <a:cs typeface="TT Squares Bold"/>
                <a:sym typeface="TT Squares Bold"/>
              </a:rPr>
              <a:t>MUCHAS GRACIAS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6953" y="4938445"/>
            <a:ext cx="10875365" cy="365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86"/>
              </a:lnSpc>
            </a:pPr>
            <a:r>
              <a:rPr lang="en-US" b="true" sz="14418" spc="-821">
                <a:solidFill>
                  <a:srgbClr val="FFFFFF"/>
                </a:solidFill>
                <a:latin typeface="TT Squares Bold"/>
                <a:ea typeface="TT Squares Bold"/>
                <a:cs typeface="TT Squares Bold"/>
                <a:sym typeface="TT Squares Bold"/>
              </a:rPr>
              <a:t>POR SU 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DAHTWdRliCc</dc:identifier>
  <dcterms:modified xsi:type="dcterms:W3CDTF">2011-08-01T06:04:30Z</dcterms:modified>
  <cp:revision>1</cp:revision>
  <dc:title>PresentacionProyecto</dc:title>
</cp:coreProperties>
</file>